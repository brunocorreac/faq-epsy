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c5270f1-e24d-2842-5801-8b48459cda40}">
          <p14:sldIdLst>
            <p14:sldId id="256"/>
            <p14:sldId id="257"/>
            <p14:sldId id="258"/>
            <p14:sldId id="259"/>
          </p14:sldIdLst>
        </p14:section>
        <p14:section name="App do cliente" id="{e5a16673-bb48-a9fe-f37b-f969828d48ee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ortal da Loja" id="{fba84cc3-6c8c-84ef-1e9d-5c0bb23e348f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Administração" id="{bdfe9417-eaf7-56a4-ce25-188c8af12730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Fechamento" id="{bc96db89-931d-a448-e098-211987398f31}">
          <p14:sldIdLst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Apresente-se e diga em uma frase o que o app faz: o cliente diz o carro que quer e as lojas da região vão até ele. Avise que a apresentação mostra as telas reais do produto, com dados de demonstração, e que no fim há uma proposta de piloto gratuito.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perfil tem o seu portal, com menu, telas e acesso próprios. O cliente nunca vê as telas da loja, a loja nunca vê a administração, e uma conta de outro perfil é barrada. Isso também protege os dados: o banco só entrega a cada um o que é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mercado é grande e está crescendo: 18,5 milhões de usados vendidos em 2025, recorde. Os portais grandes têm audiência, mas a loja pequena paga para disputar atenção com milhares de anúncios. A brecha é mostrar à loja quem já disse o que procura na região dela. Atenção: o número de lojas por região ainda não foi levantado; não cite números que não estão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do produto. Nos portais tradicionais o cliente procura o carro. Aqui, além disso, a loja encontra quem procura. O consentimento é a base: só aparece para a loja quem autorizou, e o cliente pode desautorizar quando quiser.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as telas do cliente. Elas funcionam no navegador do celular e podem ser instaladas na tela inicial, sem baixar app de loja.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tela já explica o produto. O cliente monta a busca como uma frase e toca em Ver carros. No topo aparecem os números do catálogo: carros, lojas e cidades. As três garantias abaixo respondem ao medo de golpe.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quem quer detalhar, a folha de filtros cobre tudo o que importa na compra. O contador no botão evita a frustração de aplicar filtros e não achar nada. Valores fora da faixa são avisados antes de aplicar.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tela que gera negócio. O cliente vê as fotos, a ficha e quem vende. Ao tocar em Tenho interesse, a loja recebe o contato na hora. No fim da página há o aviso de laudo cautelar e os links para o guia e o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que o cliente salva o que procura, esta tela mostra primeiro o que mais combina. O percentual ajuda a comparar. Só entram carros a partir de 60% de combinação.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tela sustenta o modelo de negócio. Sem a autorização, a busca do cliente só entra em estatísticas anônimas. Com ela, lojas aprovadas veem que existe um cliente compatível. O cliente pode desmarcar quando quiser.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ferramentas atraem o cliente de primeiro carro. O guia tem os passos da compra, do orçamento à transferência, e o cliente marca o que já fez. Os despachantes podem ser ordenados por distância. O simulador mostra a parcela com entrada, prazo e juros, e lembra dos custos de IPVA, seguro e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pode editar o perfil, rever o que procura, ocultar lojas que não quer ver e excluir a conta pelo próprio app. Os textos legais ainda são minutas e passarão por revisão jurídica antes do lançamento.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lado da loja. É um portal separado, com endereço e acesso próprios. No celular, o menu fica embaixo; no computador,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loja entra por um endereço próprio. Uma conta de cliente não acessa este portal, e vice-versa. No cadastro pedimos CNPJ e WhatsApp; a equipe analisa antes de liberar os anúncios.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mostra a saúde do estoque. O número mais importante é quantos clientes procuram algo parecido com cada carro, sem identificar ninguém. O lojista pausa, edita ou marca como vendido em um 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placa fica privada: o público não a vê. A consulta preenche os dados e, quando tudo bate com o registro, o anúncio ganha o selo Dados conferidos. Hoje a consulta funciona em modo de teste; a consulta real depende de contratar um provedor de dados de placa.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interesse chega com o nome do cliente, o carro e a mensagem. O botão abre o WhatsApp com uma mensagem pronta. Os novos ficam no topo, e o lojista marca como atendido.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loja vê quem procura carros parecidos com os dela, sem nome nem telefone. Para ver o contato, usa um crédito. Os créditos vêm do plano ou são concedidos pela equipe. Só aparecem clientes que autorizaram.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radar mostra a demanda agregada da região. Para proteger a privacidade, um grupo só aparece com pelo menos 3 pessoas. É uma ferramenta de compra de estoque para o lojista.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lojista acompanha a própria assinatura. Os valores dos planos ainda serão definidos; na demonstração eles são fictícios. Se a mensalidade atrasar além da carência, os anúncios saem do ar até a regularização.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fim, a administração. É um terceiro portal, só para a equipe, que também não aparece para clientes nem lojas.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equipe vê cada loja, com CNPJ, telefone, créditos e situação da assinatura. Lojas novas aparecem primeiro, para aprovação.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resumo mostra a receita mensal recorrente e o que está a receber ou vencido. As cobranças são geradas automaticamente todo dia; o pagamento é registrado manualmente pela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o recebimento é por Pix ou boleto e a baixa é manual. Ao registrar o pagamento de uma loja em atraso, ela volta a ficar ativa. A cobrança automática por cartão ou Pix está no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equipe define os planos e os valores. Mudar o valor de um plano não altera assinaturas que já existem. Os ajustes guardam as instruções de pagamento e a carência antes do bloqueio.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denuncia um anúncio pelo app e a equipe decide aqui. Suspender a garagem tira todos os anúncios dela do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proposta, reforce a confiança. Os três portais são separados, os dados são protegidos por perfil no banco e o lead só existe com consentimento. Os Termos e a Política de Privacidade passarão por revisão jurídica antes do lançamento.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 pedido: "Posso cadastrar sua loja agora, com 5 carros?". As condições exatas do piloto são combinadas na visita. Deixe o folder com o lojista e anote o WhatsApp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F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LA">
    <p:bg>
      <p:bgPr>
        <a:solidFill>
          <a:srgbClr val="F2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Cadê meu carro?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Cadê meu carro?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685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Cadê meu carro?</a:t>
            </a:r>
            <a:endParaRPr lang="en-US" sz="2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7373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Quem procura o seu carro, direto no seu WhatsApp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31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O produto tela por tela: app do cliente, Portal da Loja e Administração</a:t>
            </a:r>
            <a:endParaRPr lang="en-US" sz="1800" dirty="0"/>
          </a:p>
        </p:txBody>
      </p:sp>
      <p:pic>
        <p:nvPicPr>
          <p:cNvPr id="6" name="Foto de capa" descr="Carro no pát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63040"/>
            <a:ext cx="4937760" cy="3703320"/>
          </a:xfrm>
          <a:prstGeom prst="rect">
            <a:avLst/>
          </a:prstGeom>
        </p:spPr>
      </p:pic>
      <p:sp>
        <p:nvSpPr>
          <p:cNvPr id="7" name="Etiqueta de preço"/>
          <p:cNvSpPr txBox="1"/>
          <p:nvPr/>
        </p:nvSpPr>
        <p:spPr>
          <a:xfrm rot="-120000">
            <a:off x="7040880" y="4572000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R$ 89.900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Um marketplace, três portais separados</a:t>
            </a:r>
            <a:endParaRPr lang="en-US" sz="3200" dirty="0"/>
          </a:p>
        </p:txBody>
      </p:sp>
      <p:sp>
        <p:nvSpPr>
          <p:cNvPr id="3" name="Cartão App do cliente"/>
          <p:cNvSpPr/>
          <p:nvPr/>
        </p:nvSpPr>
        <p:spPr>
          <a:xfrm>
            <a:off x="548640" y="1371600"/>
            <a:ext cx="3474720" cy="466344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pic>
        <p:nvPicPr>
          <p:cNvPr id="4" name="Tela App do cliente" descr="App do cli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108960" cy="19431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 do cliente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Quem procura carro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 em frase, carros que combinam, favoritos, guia do primeiro carro e contato direto com a loja.</a:t>
            </a:r>
            <a:endParaRPr lang="en-US" sz="1400" dirty="0"/>
          </a:p>
        </p:txBody>
      </p:sp>
      <p:sp>
        <p:nvSpPr>
          <p:cNvPr id="8" name="Cartão Portal da Loja"/>
          <p:cNvSpPr/>
          <p:nvPr/>
        </p:nvSpPr>
        <p:spPr>
          <a:xfrm>
            <a:off x="4297680" y="1371600"/>
            <a:ext cx="3474720" cy="466344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pic>
        <p:nvPicPr>
          <p:cNvPr id="9" name="Tela Portal da Loja" descr="Portal da Loj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54480"/>
            <a:ext cx="3108960" cy="19431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80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Portal da Loja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48056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Garagens e lojas de seminovos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Estoque, interessados no WhatsApp, clientes buscando carros como os seus e radar da região.</a:t>
            </a:r>
            <a:endParaRPr lang="en-US" sz="1400" dirty="0"/>
          </a:p>
        </p:txBody>
      </p:sp>
      <p:sp>
        <p:nvSpPr>
          <p:cNvPr id="13" name="Cartão Administração"/>
          <p:cNvSpPr/>
          <p:nvPr/>
        </p:nvSpPr>
        <p:spPr>
          <a:xfrm>
            <a:off x="8046720" y="1371600"/>
            <a:ext cx="3474720" cy="466344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pic>
        <p:nvPicPr>
          <p:cNvPr id="14" name="Tela Administração" descr="Administr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54480"/>
            <a:ext cx="3108960" cy="19431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Administração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22960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Equipe do produto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Aprovação de lojas, planos, assinaturas, cobranças e denúncias.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mercado de usados bateu recorde em 2025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18,5 mi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carros usados e seminovos vendidos no Brasil em 2025, 17,3% a mais que em 2024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Fonte: Fenauto, vendas de veículos usados e seminovos em 2025.</a:t>
            </a:r>
            <a:endParaRPr lang="en-US" sz="1000" dirty="0"/>
          </a:p>
        </p:txBody>
      </p:sp>
      <p:sp>
        <p:nvSpPr>
          <p:cNvPr id="6" name="Marcador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E1F1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4630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Portais grandes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Muita audiência, ligados a bancos; a loja pequena compete com milhares de anúncios.</a:t>
            </a:r>
            <a:endParaRPr lang="en-US" sz="1800" dirty="0"/>
          </a:p>
        </p:txBody>
      </p:sp>
      <p:sp>
        <p:nvSpPr>
          <p:cNvPr id="9" name="Marcador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E1F1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9260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Loja pequena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Vende por WhatsApp, Instagram e Marketplace, e só descobre o cliente quando ele chama.</a:t>
            </a:r>
            <a:endParaRPr lang="en-US" sz="1800" dirty="0"/>
          </a:p>
        </p:txBody>
      </p:sp>
      <p:sp>
        <p:nvSpPr>
          <p:cNvPr id="12" name="Marcador"/>
          <p:cNvSpPr/>
          <p:nvPr/>
        </p:nvSpPr>
        <p:spPr>
          <a:xfrm>
            <a:off x="6309360" y="443484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E1F1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3891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brecha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Mostrar à loja quem já disse o que procura na região, com consentimento do cliente.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 pedido do cliente ao WhatsApp da loja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548640" y="2011680"/>
            <a:ext cx="2468880" cy="265176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9718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cliente diz o que quer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"Quero um hatch até R$ 60 mil em SC"</a:t>
            </a:r>
            <a:endParaRPr lang="en-US" sz="1800" dirty="0"/>
          </a:p>
        </p:txBody>
      </p:sp>
      <p:sp>
        <p:nvSpPr>
          <p:cNvPr id="6" name="Seta"/>
          <p:cNvSpPr/>
          <p:nvPr/>
        </p:nvSpPr>
        <p:spPr>
          <a:xfrm>
            <a:off x="3072384" y="3200400"/>
            <a:ext cx="274320" cy="274320"/>
          </a:xfrm>
          <a:prstGeom prst="rightArrow">
            <a:avLst/>
          </a:prstGeom>
          <a:solidFill>
            <a:schemeClr val="accent5"/>
          </a:solidFill>
          <a:ln w="6350">
            <a:solidFill>
              <a:srgbClr val="56655A"/>
            </a:solidFill>
            <a:prstDash val="solid"/>
          </a:ln>
        </p:spPr>
      </p:sp>
      <p:sp>
        <p:nvSpPr>
          <p:cNvPr id="7" name="Passo 2"/>
          <p:cNvSpPr/>
          <p:nvPr/>
        </p:nvSpPr>
        <p:spPr>
          <a:xfrm>
            <a:off x="3383280" y="2011680"/>
            <a:ext cx="2468880" cy="265176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9718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Autoriza ser encontrado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quem autoriza aparece para as lojas</a:t>
            </a:r>
            <a:endParaRPr lang="en-US" sz="1800" dirty="0"/>
          </a:p>
        </p:txBody>
      </p:sp>
      <p:sp>
        <p:nvSpPr>
          <p:cNvPr id="10" name="Seta"/>
          <p:cNvSpPr/>
          <p:nvPr/>
        </p:nvSpPr>
        <p:spPr>
          <a:xfrm>
            <a:off x="5907024" y="3200400"/>
            <a:ext cx="274320" cy="274320"/>
          </a:xfrm>
          <a:prstGeom prst="rightArrow">
            <a:avLst/>
          </a:prstGeom>
          <a:solidFill>
            <a:schemeClr val="accent5"/>
          </a:solidFill>
          <a:ln w="6350">
            <a:solidFill>
              <a:srgbClr val="56655A"/>
            </a:solidFill>
            <a:prstDash val="solid"/>
          </a:ln>
        </p:spPr>
      </p:sp>
      <p:sp>
        <p:nvSpPr>
          <p:cNvPr id="11" name="Passo 3"/>
          <p:cNvSpPr/>
          <p:nvPr/>
        </p:nvSpPr>
        <p:spPr>
          <a:xfrm>
            <a:off x="6217920" y="2011680"/>
            <a:ext cx="2468880" cy="265176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loja vê quem combina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nome nem telefone, até usar 1 crédito</a:t>
            </a:r>
            <a:endParaRPr lang="en-US" sz="1800" dirty="0"/>
          </a:p>
        </p:txBody>
      </p:sp>
      <p:sp>
        <p:nvSpPr>
          <p:cNvPr id="14" name="Seta"/>
          <p:cNvSpPr/>
          <p:nvPr/>
        </p:nvSpPr>
        <p:spPr>
          <a:xfrm>
            <a:off x="8741664" y="3200400"/>
            <a:ext cx="274320" cy="274320"/>
          </a:xfrm>
          <a:prstGeom prst="rightArrow">
            <a:avLst/>
          </a:prstGeom>
          <a:solidFill>
            <a:schemeClr val="accent5"/>
          </a:solidFill>
          <a:ln w="6350">
            <a:solidFill>
              <a:srgbClr val="56655A"/>
            </a:solidFill>
            <a:prstDash val="solid"/>
          </a:ln>
        </p:spPr>
      </p:sp>
      <p:sp>
        <p:nvSpPr>
          <p:cNvPr id="15" name="Passo 4"/>
          <p:cNvSpPr/>
          <p:nvPr/>
        </p:nvSpPr>
        <p:spPr>
          <a:xfrm>
            <a:off x="9052560" y="2011680"/>
            <a:ext cx="2468880" cy="2651760"/>
          </a:xfrm>
          <a:prstGeom prst="roundRect">
            <a:avLst>
              <a:gd name="adj" fmla="val 3704"/>
            </a:avLst>
          </a:prstGeom>
          <a:solidFill>
            <a:schemeClr val="accent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9718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Conversa no WhatsApp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contato chega com o carro e a mensagem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Quando entra um carro parecido, o cliente recebe aviso. Quando um cliente salva uma busca parecida com o estoque, a loja recebe aviso.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 do cliente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Para quem procura carro, principalmente o primeiro: busca simples, só lojas aprovadas e ajuda em cada passo.</a:t>
            </a:r>
            <a:endParaRPr lang="en-US" sz="1800" dirty="0"/>
          </a:p>
        </p:txBody>
      </p:sp>
      <p:sp>
        <p:nvSpPr>
          <p:cNvPr id="4" name="Celular"/>
          <p:cNvSpPr/>
          <p:nvPr/>
        </p:nvSpPr>
        <p:spPr>
          <a:xfrm>
            <a:off x="8421624" y="740664"/>
            <a:ext cx="2573874" cy="5376672"/>
          </a:xfrm>
          <a:prstGeom prst="roundRect">
            <a:avLst>
              <a:gd name="adj" fmla="val 7816"/>
            </a:avLst>
          </a:prstGeom>
          <a:solidFill>
            <a:schemeClr val="tx1"/>
          </a:solidFill>
          <a:ln w="6350">
            <a:solidFill>
              <a:srgbClr val="102016"/>
            </a:solidFill>
            <a:prstDash val="solid"/>
          </a:ln>
          <a:effectLst>
            <a:outerShdw sx="100000" sy="100000" kx="0" ky="0" algn="bl" rotWithShape="0" blurRad="127000" dist="50800" dir="5400000">
              <a:srgbClr val="102016">
                <a:alpha val="22000"/>
              </a:srgbClr>
            </a:outerShdw>
          </a:effectLst>
        </p:spPr>
      </p:sp>
      <p:pic>
        <p:nvPicPr>
          <p:cNvPr id="5" name="Tela no celular" descr="Tela no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822960"/>
            <a:ext cx="2409282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Início: a busca vira uma frase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 em frase: tipo de carro, valor máximo e estado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Foto de capa com a etiqueta de preço, como no para-brisa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Três garantias: lojas aprovadas, dados conferidos, contato só se o cliente pedir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Quem compra o primeiro carro não sabe filtrar. Uma frase é mais fácil do que um formulário.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 com filtros completos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Filtros de região, marca, modelo, ano, valor, km, câmbio, combustível e loja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 botão mostra quantos carros sobram antes de aplicar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Atalhos rápidos e ordenação por preço, km ou ano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Quem já sabe o que quer encontra em segundos. E a busca pode ser salva para receber avisos.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Detalhe do carro: tudo para decidir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Galeria de fotos com miniaturas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Ficha: ano, km, câmbio, combustível, tipo e cor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Selos de loja verificada e dados conferidos pela placa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Botão "Tenho interesse" e WhatsApp da loja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interesse chega à loja com o carro, a mensagem e o WhatsApp do cliente.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Para você: os carros que mais combinam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Carros ordenados pelo quanto combinam com a busca salva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Percentual de combinação em cada carro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Os critérios salvos aparecem no topo, para editar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cliente volta ao app sem precisar refazer a busca.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eu procuro e a autorização de contato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busca salva, com os mesmos filtros do catálogo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Caixa "Quero ser encontrado por lojas", desmarcável a qualquer momento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Ativação de avisos no celular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aqui que nasce o lead: só com a autorização do cliente, conforme a LGPD.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Guia, despachantes e simulador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5961888" cy="3767328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36576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425196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Celular"/>
          <p:cNvSpPr/>
          <p:nvPr/>
        </p:nvSpPr>
        <p:spPr>
          <a:xfrm>
            <a:off x="6821424" y="1335024"/>
            <a:ext cx="2235729" cy="4645152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6350">
            <a:solidFill>
              <a:srgbClr val="102016"/>
            </a:solidFill>
            <a:prstDash val="solid"/>
          </a:ln>
          <a:effectLst>
            <a:outerShdw sx="100000" sy="100000" kx="0" ky="0" algn="bl" rotWithShape="0" blurRad="127000" dist="50800" dir="5400000">
              <a:srgbClr val="102016">
                <a:alpha val="22000"/>
              </a:srgbClr>
            </a:outerShdw>
          </a:effectLst>
        </p:spPr>
      </p:sp>
      <p:pic>
        <p:nvPicPr>
          <p:cNvPr id="7" name="Tela no celular" descr="Tela no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2071137" cy="4480560"/>
          </a:xfrm>
          <a:prstGeom prst="rect">
            <a:avLst/>
          </a:prstGeom>
        </p:spPr>
      </p:pic>
      <p:sp>
        <p:nvSpPr>
          <p:cNvPr id="8" name="Celular"/>
          <p:cNvSpPr/>
          <p:nvPr/>
        </p:nvSpPr>
        <p:spPr>
          <a:xfrm>
            <a:off x="9304041" y="1335024"/>
            <a:ext cx="2235729" cy="4645152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6350">
            <a:solidFill>
              <a:srgbClr val="102016"/>
            </a:solidFill>
            <a:prstDash val="solid"/>
          </a:ln>
          <a:effectLst>
            <a:outerShdw sx="100000" sy="100000" kx="0" ky="0" algn="bl" rotWithShape="0" blurRad="127000" dist="50800" dir="5400000">
              <a:srgbClr val="102016">
                <a:alpha val="22000"/>
              </a:srgbClr>
            </a:outerShdw>
          </a:effectLst>
        </p:spPr>
      </p:sp>
      <p:pic>
        <p:nvPicPr>
          <p:cNvPr id="9" name="Tela no celular" descr="Tela no celul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337" y="1417320"/>
            <a:ext cx="2071137" cy="4480560"/>
          </a:xfrm>
          <a:prstGeom prst="rect">
            <a:avLst/>
          </a:prstGeom>
        </p:spPr>
      </p:pic>
      <p:sp>
        <p:nvSpPr>
          <p:cNvPr id="10" name="Destaque"/>
          <p:cNvSpPr txBox="1"/>
          <p:nvPr/>
        </p:nvSpPr>
        <p:spPr>
          <a:xfrm>
            <a:off x="548640" y="5257800"/>
            <a:ext cx="585216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primeiro carro assusta. O guia passo a passo, os despachantes próximos e o simulador de parcelas tiram as dúvidas antes da visita.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Conta e privacidade nas mãos do cliente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 do cliente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Perfil, busca salva e favoritos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Termos de Uso, Política de Privacidade e Suporte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Garagens ocultadas, com opção de mostrar de novo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Excluir conta, com confirmação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Confiança: o cliente controla os próprios dados e pode sair quando quiser.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Portal da Loja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Para garagens e lojas de seminovos: estoque, interessados e clientes buscando carros como os seus.</a:t>
            </a:r>
            <a:endParaRPr lang="en-US" sz="1800" dirty="0"/>
          </a:p>
        </p:txBody>
      </p:sp>
      <p:sp>
        <p:nvSpPr>
          <p:cNvPr id="4" name="Celular"/>
          <p:cNvSpPr/>
          <p:nvPr/>
        </p:nvSpPr>
        <p:spPr>
          <a:xfrm>
            <a:off x="8421624" y="740664"/>
            <a:ext cx="2573874" cy="5376672"/>
          </a:xfrm>
          <a:prstGeom prst="roundRect">
            <a:avLst>
              <a:gd name="adj" fmla="val 7816"/>
            </a:avLst>
          </a:prstGeom>
          <a:solidFill>
            <a:schemeClr val="tx1"/>
          </a:solidFill>
          <a:ln w="6350">
            <a:solidFill>
              <a:srgbClr val="102016"/>
            </a:solidFill>
            <a:prstDash val="solid"/>
          </a:ln>
          <a:effectLst>
            <a:outerShdw sx="100000" sy="100000" kx="0" ky="0" algn="bl" rotWithShape="0" blurRad="127000" dist="50800" dir="5400000">
              <a:srgbClr val="102016">
                <a:alpha val="22000"/>
              </a:srgbClr>
            </a:outerShdw>
          </a:effectLst>
        </p:spPr>
      </p:sp>
      <p:pic>
        <p:nvPicPr>
          <p:cNvPr id="5" name="Tela no celular" descr="Tela no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822960"/>
            <a:ext cx="2409282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Entrada exclusiva para lojas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 e cadastro só de lojas, separado do app do cliente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Cadastro com nome da loja, CNPJ e WhatsApp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CNPJ validado e aprovação pela equipe antes de anunciar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lojas aprovadas anunciam. Isso afasta golpes e anúncios falsos.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Estoque: anúncios e quem procura por eles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Anúncios ativos, interessados novos e buscas compatíveis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 cada carro: quantos clientes procuram algo parecido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 ativo, pausado ou vendido, editar e ver o anúncio público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loja vê a demanda por carro, não só as visitas.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Anunciar com a placa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Consulta pela placa preenche marca, modelo, ano, cor e combustível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Até 6 fotos, com tamanho mínimo e formato conferidos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Selo "Dados conferidos" quando o anúncio bate com o registro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Menos digitação para a loja e mais confiança para o cliente.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Interessados direto no WhatsApp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Nome, carro de interesse, data e mensagem do cliente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Botão de WhatsApp com mensagem pronta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Marcar como atendido para organizar o dia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cliente que tocou em "Tenho interesse" chega pronto para conversar.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Clientes buscando: o lead antes do anúncio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Buscas de clientes que autorizaram contato e combinam com o estoque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Quando a busca foi atualizada e quantos carros combinam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Contato liberado com 1 crédito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o diferencial do produto: a loja encontra o cliente, não só o contrário.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Radar: o que a região procura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Marcas, modelos, faixas de preço e estados mais procurados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Dados agregados de buscas salvas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Grupos com menos de 3 pessoas não aparecem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Ajuda a decidir o que comprar para o estoque, sem expor ninguém.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Assinatura e cobranças da loja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Portal da Loja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Plano, valor e próxima cobrança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Instruções de pagamento e histórico de cobranças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Avisos de teste, atraso e carência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Transparência: a loja sabe o que paga e quando.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Administração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Para a equipe do produto: aprovar lojas, cuidar das assinaturas e tratar denúncias.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Garagens: aprovação e créditos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Administração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Lojas pendentes no topo, com CNPJ e WhatsApp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Aprovar, suspender ou voltar para pendente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Conceder créditos avulsos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o filtro de qualidade: só entra quem foi conferido.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Assinaturas: receita e inadimplência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Administração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Receita mensal recorrente e totais por situação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Lojas em teste, ativas, em atraso, suspensas e cortesias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Gerar cobranças do período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saúde do negócio em uma tela.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Cobranças: baixa e controle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Administração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Filtros por situação: vencidas, em aberto, pagas, canceladas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Registrar pagamento com forma 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Desfazer pagamento ou cancelar cobrança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Controle simples enquanto a cobrança automática não é ativada.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Planos e ajustes de cobrança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Administração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Planos com mensalidade, limite de anúncios e créditos por mês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Ativar ou desativar planos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Instruções de pagamento e dias de carência nos ajustes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preços são definidos pela equipe, sem mexer no código.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Denúncias: resposta rápida</a:t>
            </a:r>
            <a:endParaRPr lang="en-US" sz="3200" dirty="0"/>
          </a:p>
        </p:txBody>
      </p:sp>
      <p:sp>
        <p:nvSpPr>
          <p:cNvPr id="3" name="Moldura da tela"/>
          <p:cNvSpPr/>
          <p:nvPr/>
        </p:nvSpPr>
        <p:spPr>
          <a:xfrm>
            <a:off x="493776" y="1316736"/>
            <a:ext cx="7424928" cy="4681728"/>
          </a:xfrm>
          <a:prstGeom prst="roundRect">
            <a:avLst>
              <a:gd name="adj" fmla="val 1563"/>
            </a:avLst>
          </a:prstGeom>
          <a:solidFill>
            <a:schemeClr val="bg1"/>
          </a:solidFill>
          <a:ln w="9525">
            <a:solidFill>
              <a:srgbClr val="D9E2D4"/>
            </a:solidFill>
            <a:prstDash val="solid"/>
          </a:ln>
          <a:effectLst>
            <a:outerShdw sx="100000" sy="100000" kx="0" ky="0" algn="bl" rotWithShape="0" blurRad="101600" dist="38100" dir="5400000">
              <a:srgbClr val="102016">
                <a:alpha val="18000"/>
              </a:srgbClr>
            </a:outerShdw>
          </a:effectLst>
        </p:spPr>
      </p:sp>
      <p:pic>
        <p:nvPicPr>
          <p:cNvPr id="4" name="Tela" descr="Tela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72000"/>
          </a:xfrm>
          <a:prstGeom prst="rect">
            <a:avLst/>
          </a:prstGeom>
        </p:spPr>
      </p:pic>
      <p:sp>
        <p:nvSpPr>
          <p:cNvPr id="5" name="Etiqueta do portal"/>
          <p:cNvSpPr txBox="1"/>
          <p:nvPr/>
        </p:nvSpPr>
        <p:spPr>
          <a:xfrm rot="-120000">
            <a:off x="5715000" y="969264"/>
            <a:ext cx="201168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Administração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 que a tela mostra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73736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Denúncias abertas com motivo, anúncio e loja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Arquivar, pausar o anúncio ou suspender a loja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Contagem de denúncias abertas por loja</a:t>
            </a:r>
            <a:endParaRPr lang="en-US" sz="1400" dirty="0"/>
          </a:p>
        </p:txBody>
      </p:sp>
      <p:sp>
        <p:nvSpPr>
          <p:cNvPr id="8" name="Destaque"/>
          <p:cNvSpPr txBox="1"/>
          <p:nvPr/>
        </p:nvSpPr>
        <p:spPr>
          <a:xfrm>
            <a:off x="8275320" y="4434840"/>
            <a:ext cx="3383280" cy="1508760"/>
          </a:xfrm>
          <a:prstGeom prst="roundRect">
            <a:avLst>
              <a:gd name="adj" fmla="val 4848"/>
            </a:avLst>
          </a:prstGeom>
          <a:solidFill>
            <a:schemeClr val="accent4"/>
          </a:solidFill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Por que importa
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Golpe se combate com resposta rápida. A meta é responder em até 24 horas.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Segurança e privacidade desde o início</a:t>
            </a:r>
            <a:endParaRPr lang="en-US" sz="3200" dirty="0"/>
          </a:p>
        </p:txBody>
      </p:sp>
      <p:sp>
        <p:nvSpPr>
          <p:cNvPr id="3" name="Item Portais isolados"/>
          <p:cNvSpPr/>
          <p:nvPr/>
        </p:nvSpPr>
        <p:spPr>
          <a:xfrm>
            <a:off x="548640" y="146304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4" name="Marcador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1A7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Portais isolados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perfil só vê as próprias telas; conta de outro perfil é barrada.</a:t>
            </a:r>
            <a:endParaRPr lang="en-US" sz="1800" dirty="0"/>
          </a:p>
        </p:txBody>
      </p:sp>
      <p:sp>
        <p:nvSpPr>
          <p:cNvPr id="7" name="Item Dados por perfil"/>
          <p:cNvSpPr/>
          <p:nvPr/>
        </p:nvSpPr>
        <p:spPr>
          <a:xfrm>
            <a:off x="4297680" y="146304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8" name="Marcador"/>
          <p:cNvSpPr/>
          <p:nvPr/>
        </p:nvSpPr>
        <p:spPr>
          <a:xfrm>
            <a:off x="4526280" y="1691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1A7F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40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Dados por perfil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banco entrega a cada um só o que é dele.</a:t>
            </a:r>
            <a:endParaRPr lang="en-US" sz="1800" dirty="0"/>
          </a:p>
        </p:txBody>
      </p:sp>
      <p:sp>
        <p:nvSpPr>
          <p:cNvPr id="11" name="Item Consentimento"/>
          <p:cNvSpPr/>
          <p:nvPr/>
        </p:nvSpPr>
        <p:spPr>
          <a:xfrm>
            <a:off x="8046720" y="146304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8275320" y="1691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1A7F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240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Consentimento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loja só vê quem autorizou o contato.</a:t>
            </a:r>
            <a:endParaRPr lang="en-US" sz="1800" dirty="0"/>
          </a:p>
        </p:txBody>
      </p:sp>
      <p:sp>
        <p:nvSpPr>
          <p:cNvPr id="15" name="Item Placa privada"/>
          <p:cNvSpPr/>
          <p:nvPr/>
        </p:nvSpPr>
        <p:spPr>
          <a:xfrm>
            <a:off x="548640" y="374904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16" name="Marcador"/>
          <p:cNvSpPr/>
          <p:nvPr/>
        </p:nvSpPr>
        <p:spPr>
          <a:xfrm>
            <a:off x="777240" y="3977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1A7F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Placa privada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Usada só para conferir o anúncio; o público não vê.</a:t>
            </a:r>
            <a:endParaRPr lang="en-US" sz="1800" dirty="0"/>
          </a:p>
        </p:txBody>
      </p:sp>
      <p:sp>
        <p:nvSpPr>
          <p:cNvPr id="19" name="Item Moderação"/>
          <p:cNvSpPr/>
          <p:nvPr/>
        </p:nvSpPr>
        <p:spPr>
          <a:xfrm>
            <a:off x="4297680" y="374904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20" name="Marcador"/>
          <p:cNvSpPr/>
          <p:nvPr/>
        </p:nvSpPr>
        <p:spPr>
          <a:xfrm>
            <a:off x="4526280" y="3977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1A7F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Moderação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Denúncia, ocultar loja e suspensão de anunciantes.</a:t>
            </a:r>
            <a:endParaRPr lang="en-US" sz="1800" dirty="0"/>
          </a:p>
        </p:txBody>
      </p:sp>
      <p:sp>
        <p:nvSpPr>
          <p:cNvPr id="23" name="Item Exclusão de conta"/>
          <p:cNvSpPr/>
          <p:nvPr/>
        </p:nvSpPr>
        <p:spPr>
          <a:xfrm>
            <a:off x="8046720" y="374904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9525">
            <a:solidFill>
              <a:srgbClr val="D9E2D4"/>
            </a:solidFill>
            <a:prstDash val="solid"/>
          </a:ln>
        </p:spPr>
      </p:sp>
      <p:sp>
        <p:nvSpPr>
          <p:cNvPr id="24" name="Marcador"/>
          <p:cNvSpPr/>
          <p:nvPr/>
        </p:nvSpPr>
        <p:spPr>
          <a:xfrm>
            <a:off x="8275320" y="3977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1A7F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Exclusão de conta
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cliente apaga a conta pelo próprio app.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Piloto gratuito para as primeiras lojas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30 a 60 dias, cadastro feito junto e preço de lançamento travado para quem entrar agora</a:t>
            </a:r>
            <a:endParaRPr lang="en-US" sz="1800" dirty="0"/>
          </a:p>
        </p:txBody>
      </p:sp>
      <p:sp>
        <p:nvSpPr>
          <p:cNvPr id="4" name="Passo do piloto 1"/>
          <p:cNvSpPr/>
          <p:nvPr/>
        </p:nvSpPr>
        <p:spPr>
          <a:xfrm>
            <a:off x="6949440" y="1737360"/>
            <a:ext cx="4663440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 w="9525">
            <a:solidFill>
              <a:srgbClr val="C8F5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78040" y="17373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Cadastrar a loja e 5 carros hoje, em 10 minutos</a:t>
            </a:r>
            <a:endParaRPr lang="en-US" sz="2000" dirty="0"/>
          </a:p>
        </p:txBody>
      </p:sp>
      <p:sp>
        <p:nvSpPr>
          <p:cNvPr id="6" name="Passo do piloto 2"/>
          <p:cNvSpPr/>
          <p:nvPr/>
        </p:nvSpPr>
        <p:spPr>
          <a:xfrm>
            <a:off x="6949440" y="292608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1D3A25"/>
          </a:solidFill>
          <a:ln w="9525">
            <a:solidFill>
              <a:srgbClr val="2E52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9260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Receber interessados e clientes buscando no WhatsApp</a:t>
            </a:r>
            <a:endParaRPr lang="en-US" sz="2000" dirty="0"/>
          </a:p>
        </p:txBody>
      </p:sp>
      <p:sp>
        <p:nvSpPr>
          <p:cNvPr id="8" name="Passo do piloto 3"/>
          <p:cNvSpPr/>
          <p:nvPr/>
        </p:nvSpPr>
        <p:spPr>
          <a:xfrm>
            <a:off x="6949440" y="4114800"/>
            <a:ext cx="4663440" cy="960120"/>
          </a:xfrm>
          <a:prstGeom prst="roundRect">
            <a:avLst>
              <a:gd name="adj" fmla="val 9524"/>
            </a:avLst>
          </a:prstGeom>
          <a:solidFill>
            <a:srgbClr val="1D3A25"/>
          </a:solidFill>
          <a:ln w="9525">
            <a:solidFill>
              <a:srgbClr val="2E52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41148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 fim do teste, decidir com base nos resultados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de meu carro">
  <a:themeElements>
    <a:clrScheme name="Cade meu carro">
      <a:dk1>
        <a:srgbClr val="102016"/>
      </a:dk1>
      <a:lt1>
        <a:srgbClr val="FFFFFF"/>
      </a:lt1>
      <a:dk2>
        <a:srgbClr val="0F2416"/>
      </a:dk2>
      <a:lt2>
        <a:srgbClr val="F2F5F0"/>
      </a:lt2>
      <a:accent1>
        <a:srgbClr val="1A7F3C"/>
      </a:accent1>
      <a:accent2>
        <a:srgbClr val="C8F542"/>
      </a:accent2>
      <a:accent3>
        <a:srgbClr val="146B31"/>
      </a:accent3>
      <a:accent4>
        <a:srgbClr val="E1F1E1"/>
      </a:accent4>
      <a:accent5>
        <a:srgbClr val="56655A"/>
      </a:accent5>
      <a:accent6>
        <a:srgbClr val="B42318"/>
      </a:accent6>
      <a:hlink>
        <a:srgbClr val="146B31"/>
      </a:hlink>
      <a:folHlink>
        <a:srgbClr val="56655A"/>
      </a:folHlink>
    </a:clrScheme>
    <a:fontScheme name="Cade meu car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Cadê meu carro? · O produto tela por tela</dc:title>
  <dc:subject>PptxGenJS Presentation</dc:subject>
  <dc:creator>Cadê meu carro?</dc:creator>
  <cp:lastModifiedBy>Cadê meu carro?</cp:lastModifiedBy>
  <cp:revision>1</cp:revision>
  <dcterms:created xsi:type="dcterms:W3CDTF">2026-10-16T22:58:07Z</dcterms:created>
  <dcterms:modified xsi:type="dcterms:W3CDTF">2026-10-16T22:58:07Z</dcterms:modified>
</cp:coreProperties>
</file>